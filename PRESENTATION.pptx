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72A"/>
                </a:solidFill>
                <a:latin typeface="Georgia"/>
              </a:defRPr>
            </a:pPr>
            <a:r>
              <a:rPr sz="1300" b="0" i="0" u="none" strike="noStrike">
                <a:solidFill>
                  <a:srgbClr val="0F172A"/>
                </a:solidFill>
                <a:latin typeface="Georgia"/>
              </a:rPr>
              <a:t>Distribution of daily ROAS across campaigns (32-day window)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Daily ROAS frequency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0–1</c:v>
                  </c:pt>
                  <c:pt idx="1">
                    <c:v>1–2</c:v>
                  </c:pt>
                  <c:pt idx="2">
                    <c:v>2–3</c:v>
                  </c:pt>
                  <c:pt idx="3">
                    <c:v>3–4</c:v>
                  </c:pt>
                  <c:pt idx="4">
                    <c:v>4–6</c:v>
                  </c:pt>
                  <c:pt idx="5">
                    <c:v>6–10</c:v>
                  </c:pt>
                  <c:pt idx="6">
                    <c:v>10–20</c:v>
                  </c:pt>
                  <c:pt idx="7">
                    <c:v>20+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185</c:v>
                </c:pt>
                <c:pt idx="1">
                  <c:v>295</c:v>
                </c:pt>
                <c:pt idx="2">
                  <c:v>240</c:v>
                </c:pt>
                <c:pt idx="3">
                  <c:v>165</c:v>
                </c:pt>
                <c:pt idx="4">
                  <c:v>110</c:v>
                </c:pt>
                <c:pt idx="5">
                  <c:v>65</c:v>
                </c:pt>
                <c:pt idx="6">
                  <c:v>35</c:v>
                </c:pt>
                <c:pt idx="7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4748B"/>
                    </a:solidFill>
                    <a:latin typeface="Arial"/>
                  </a:rPr>
                  <a:t>ROAS bin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4748B"/>
                    </a:solidFill>
                    <a:latin typeface="Arial"/>
                  </a:rPr>
                  <a:t>Frequency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 w="6350" cap="flat">
      <a:solidFill>
        <a:srgbClr val="E2E8F0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Georgia"/>
              </a:defRPr>
            </a:pPr>
            <a:r>
              <a:rPr sz="1200" b="0" i="0" u="none" strike="noStrike">
                <a:solidFill>
                  <a:srgbClr val="0F172A"/>
                </a:solidFill>
                <a:latin typeface="Georgia"/>
              </a:rPr>
              <a:t>SARIMA + XGBoost ensemble — 7-day horizon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Historical ROAS</c:v>
                </c:pt>
              </c:strCache>
            </c:strRef>
          </c:tx>
          <c:spPr>
            <a:solidFill>
              <a:srgbClr val="0F172A"/>
            </a:solidFill>
            <a:ln w="25400" cap="flat">
              <a:solidFill>
                <a:srgbClr val="0F172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172A"/>
              </a:solidFill>
              <a:ln w="9525" cap="flat">
                <a:solidFill>
                  <a:srgbClr val="0F172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D-13</c:v>
                  </c:pt>
                  <c:pt idx="1">
                    <c:v>D-12</c:v>
                  </c:pt>
                  <c:pt idx="2">
                    <c:v>D-11</c:v>
                  </c:pt>
                  <c:pt idx="3">
                    <c:v>D-10</c:v>
                  </c:pt>
                  <c:pt idx="4">
                    <c:v>D-9</c:v>
                  </c:pt>
                  <c:pt idx="5">
                    <c:v>D-8</c:v>
                  </c:pt>
                  <c:pt idx="6">
                    <c:v>D-7</c:v>
                  </c:pt>
                  <c:pt idx="7">
                    <c:v>D-6</c:v>
                  </c:pt>
                  <c:pt idx="8">
                    <c:v>D-5</c:v>
                  </c:pt>
                  <c:pt idx="9">
                    <c:v>D-4</c:v>
                  </c:pt>
                  <c:pt idx="10">
                    <c:v>D-3</c:v>
                  </c:pt>
                  <c:pt idx="11">
                    <c:v>D-2</c:v>
                  </c:pt>
                  <c:pt idx="12">
                    <c:v>D-1</c:v>
                  </c:pt>
                  <c:pt idx="13">
                    <c:v>D0</c:v>
                  </c:pt>
                  <c:pt idx="14">
                    <c:v>D+1</c:v>
                  </c:pt>
                  <c:pt idx="15">
                    <c:v>D+2</c:v>
                  </c:pt>
                  <c:pt idx="16">
                    <c:v>D+3</c:v>
                  </c:pt>
                  <c:pt idx="17">
                    <c:v>D+4</c:v>
                  </c:pt>
                  <c:pt idx="18">
                    <c:v>D+5</c:v>
                  </c:pt>
                  <c:pt idx="19">
                    <c:v>D+6</c:v>
                  </c:pt>
                  <c:pt idx="20">
                    <c:v>D+7</c:v>
                  </c:pt>
                </c:lvl>
              </c:multiLvlStrCache>
            </c:multiLvl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2.55</c:v>
                </c:pt>
                <c:pt idx="1">
                  <c:v>2.78</c:v>
                </c:pt>
                <c:pt idx="2">
                  <c:v>2.41</c:v>
                </c:pt>
                <c:pt idx="3">
                  <c:v>3.1</c:v>
                </c:pt>
                <c:pt idx="4">
                  <c:v>2.62</c:v>
                </c:pt>
                <c:pt idx="5">
                  <c:v>2.31</c:v>
                </c:pt>
                <c:pt idx="6">
                  <c:v>2.95</c:v>
                </c:pt>
                <c:pt idx="7">
                  <c:v>3.22</c:v>
                </c:pt>
                <c:pt idx="8">
                  <c:v>2.66</c:v>
                </c:pt>
                <c:pt idx="9">
                  <c:v>2.4</c:v>
                </c:pt>
                <c:pt idx="10">
                  <c:v>2.81</c:v>
                </c:pt>
                <c:pt idx="11">
                  <c:v>3.05</c:v>
                </c:pt>
                <c:pt idx="12">
                  <c:v>2.74</c:v>
                </c:pt>
                <c:pt idx="13">
                  <c:v>2.92</c:v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95% CI upper</c:v>
                </c:pt>
              </c:strCache>
            </c:strRef>
          </c:tx>
          <c:spPr>
            <a:solidFill>
              <a:srgbClr val="CBD5E1"/>
            </a:solidFill>
            <a:ln w="25400" cap="flat">
              <a:solidFill>
                <a:srgbClr val="CBD5E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BD5E1"/>
              </a:solidFill>
              <a:ln w="9525" cap="flat">
                <a:solidFill>
                  <a:srgbClr val="CBD5E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D-13</c:v>
                  </c:pt>
                  <c:pt idx="1">
                    <c:v>D-12</c:v>
                  </c:pt>
                  <c:pt idx="2">
                    <c:v>D-11</c:v>
                  </c:pt>
                  <c:pt idx="3">
                    <c:v>D-10</c:v>
                  </c:pt>
                  <c:pt idx="4">
                    <c:v>D-9</c:v>
                  </c:pt>
                  <c:pt idx="5">
                    <c:v>D-8</c:v>
                  </c:pt>
                  <c:pt idx="6">
                    <c:v>D-7</c:v>
                  </c:pt>
                  <c:pt idx="7">
                    <c:v>D-6</c:v>
                  </c:pt>
                  <c:pt idx="8">
                    <c:v>D-5</c:v>
                  </c:pt>
                  <c:pt idx="9">
                    <c:v>D-4</c:v>
                  </c:pt>
                  <c:pt idx="10">
                    <c:v>D-3</c:v>
                  </c:pt>
                  <c:pt idx="11">
                    <c:v>D-2</c:v>
                  </c:pt>
                  <c:pt idx="12">
                    <c:v>D-1</c:v>
                  </c:pt>
                  <c:pt idx="13">
                    <c:v>D0</c:v>
                  </c:pt>
                  <c:pt idx="14">
                    <c:v>D+1</c:v>
                  </c:pt>
                  <c:pt idx="15">
                    <c:v>D+2</c:v>
                  </c:pt>
                  <c:pt idx="16">
                    <c:v>D+3</c:v>
                  </c:pt>
                  <c:pt idx="17">
                    <c:v>D+4</c:v>
                  </c:pt>
                  <c:pt idx="18">
                    <c:v>D+5</c:v>
                  </c:pt>
                  <c:pt idx="19">
                    <c:v>D+6</c:v>
                  </c:pt>
                  <c:pt idx="20">
                    <c:v>D+7</c:v>
                  </c:pt>
                </c:lvl>
              </c:multiLvlStrCache>
            </c:multiLvl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>2.92</c:v>
                </c:pt>
                <c:pt idx="14">
                  <c:v>3.3</c:v>
                </c:pt>
                <c:pt idx="15">
                  <c:v>3.42</c:v>
                </c:pt>
                <c:pt idx="16">
                  <c:v>3.51</c:v>
                </c:pt>
                <c:pt idx="17">
                  <c:v>3.58</c:v>
                </c:pt>
                <c:pt idx="18">
                  <c:v>3.66</c:v>
                </c:pt>
                <c:pt idx="19">
                  <c:v>3.74</c:v>
                </c:pt>
                <c:pt idx="20">
                  <c:v>3.82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95% CI lower</c:v>
                </c:pt>
              </c:strCache>
            </c:strRef>
          </c:tx>
          <c:spPr>
            <a:solidFill>
              <a:srgbClr val="CBD5E1"/>
            </a:solidFill>
            <a:ln w="25400" cap="flat">
              <a:solidFill>
                <a:srgbClr val="CBD5E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BD5E1"/>
              </a:solidFill>
              <a:ln w="9525" cap="flat">
                <a:solidFill>
                  <a:srgbClr val="CBD5E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D-13</c:v>
                  </c:pt>
                  <c:pt idx="1">
                    <c:v>D-12</c:v>
                  </c:pt>
                  <c:pt idx="2">
                    <c:v>D-11</c:v>
                  </c:pt>
                  <c:pt idx="3">
                    <c:v>D-10</c:v>
                  </c:pt>
                  <c:pt idx="4">
                    <c:v>D-9</c:v>
                  </c:pt>
                  <c:pt idx="5">
                    <c:v>D-8</c:v>
                  </c:pt>
                  <c:pt idx="6">
                    <c:v>D-7</c:v>
                  </c:pt>
                  <c:pt idx="7">
                    <c:v>D-6</c:v>
                  </c:pt>
                  <c:pt idx="8">
                    <c:v>D-5</c:v>
                  </c:pt>
                  <c:pt idx="9">
                    <c:v>D-4</c:v>
                  </c:pt>
                  <c:pt idx="10">
                    <c:v>D-3</c:v>
                  </c:pt>
                  <c:pt idx="11">
                    <c:v>D-2</c:v>
                  </c:pt>
                  <c:pt idx="12">
                    <c:v>D-1</c:v>
                  </c:pt>
                  <c:pt idx="13">
                    <c:v>D0</c:v>
                  </c:pt>
                  <c:pt idx="14">
                    <c:v>D+1</c:v>
                  </c:pt>
                  <c:pt idx="15">
                    <c:v>D+2</c:v>
                  </c:pt>
                  <c:pt idx="16">
                    <c:v>D+3</c:v>
                  </c:pt>
                  <c:pt idx="17">
                    <c:v>D+4</c:v>
                  </c:pt>
                  <c:pt idx="18">
                    <c:v>D+5</c:v>
                  </c:pt>
                  <c:pt idx="19">
                    <c:v>D+6</c:v>
                  </c:pt>
                  <c:pt idx="20">
                    <c:v>D+7</c:v>
                  </c:pt>
                </c:lvl>
              </c:multiLvlStrCache>
            </c:multiLvlStrRef>
          </c:cat>
          <c:val>
            <c:numRef>
              <c:f>Sheet1!$D$2:$D$22</c:f>
              <c:numCache>
                <c:formatCode>General</c:formatCode>
                <c:ptCount val="21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>2.92</c:v>
                </c:pt>
                <c:pt idx="14">
                  <c:v>2.4</c:v>
                </c:pt>
                <c:pt idx="15">
                  <c:v>2.28</c:v>
                </c:pt>
                <c:pt idx="16">
                  <c:v>2.2</c:v>
                </c:pt>
                <c:pt idx="17">
                  <c:v>2.11</c:v>
                </c:pt>
                <c:pt idx="18">
                  <c:v>2.05</c:v>
                </c:pt>
                <c:pt idx="19">
                  <c:v>1.98</c:v>
                </c:pt>
                <c:pt idx="20">
                  <c:v>1.92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Forecast</c:v>
                </c:pt>
              </c:strCache>
            </c:strRef>
          </c:tx>
          <c:spPr>
            <a:solidFill>
              <a:srgbClr val="14B8A6"/>
            </a:solidFill>
            <a:ln w="25400" cap="flat">
              <a:solidFill>
                <a:srgbClr val="14B8A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4B8A6"/>
              </a:solidFill>
              <a:ln w="9525" cap="flat">
                <a:solidFill>
                  <a:srgbClr val="14B8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D-13</c:v>
                  </c:pt>
                  <c:pt idx="1">
                    <c:v>D-12</c:v>
                  </c:pt>
                  <c:pt idx="2">
                    <c:v>D-11</c:v>
                  </c:pt>
                  <c:pt idx="3">
                    <c:v>D-10</c:v>
                  </c:pt>
                  <c:pt idx="4">
                    <c:v>D-9</c:v>
                  </c:pt>
                  <c:pt idx="5">
                    <c:v>D-8</c:v>
                  </c:pt>
                  <c:pt idx="6">
                    <c:v>D-7</c:v>
                  </c:pt>
                  <c:pt idx="7">
                    <c:v>D-6</c:v>
                  </c:pt>
                  <c:pt idx="8">
                    <c:v>D-5</c:v>
                  </c:pt>
                  <c:pt idx="9">
                    <c:v>D-4</c:v>
                  </c:pt>
                  <c:pt idx="10">
                    <c:v>D-3</c:v>
                  </c:pt>
                  <c:pt idx="11">
                    <c:v>D-2</c:v>
                  </c:pt>
                  <c:pt idx="12">
                    <c:v>D-1</c:v>
                  </c:pt>
                  <c:pt idx="13">
                    <c:v>D0</c:v>
                  </c:pt>
                  <c:pt idx="14">
                    <c:v>D+1</c:v>
                  </c:pt>
                  <c:pt idx="15">
                    <c:v>D+2</c:v>
                  </c:pt>
                  <c:pt idx="16">
                    <c:v>D+3</c:v>
                  </c:pt>
                  <c:pt idx="17">
                    <c:v>D+4</c:v>
                  </c:pt>
                  <c:pt idx="18">
                    <c:v>D+5</c:v>
                  </c:pt>
                  <c:pt idx="19">
                    <c:v>D+6</c:v>
                  </c:pt>
                  <c:pt idx="20">
                    <c:v>D+7</c:v>
                  </c:pt>
                </c:lvl>
              </c:multiLvlStrCache>
            </c:multiLvlStrRef>
          </c:cat>
          <c:val>
            <c:numRef>
              <c:f>Sheet1!$E$2:$E$22</c:f>
              <c:numCache>
                <c:formatCode>General</c:formatCode>
                <c:ptCount val="21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>2.92</c:v>
                </c:pt>
                <c:pt idx="14">
                  <c:v>2.86</c:v>
                </c:pt>
                <c:pt idx="15">
                  <c:v>2.84</c:v>
                </c:pt>
                <c:pt idx="16">
                  <c:v>2.88</c:v>
                </c:pt>
                <c:pt idx="17">
                  <c:v>2.83</c:v>
                </c:pt>
                <c:pt idx="18">
                  <c:v>2.85</c:v>
                </c:pt>
                <c:pt idx="19">
                  <c:v>2.87</c:v>
                </c:pt>
                <c:pt idx="20">
                  <c:v>2.85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1.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 w="6350" cap="flat">
      <a:solidFill>
        <a:srgbClr val="E2E8F0"/>
      </a:solidFill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P(ROAS ≥ target)</c:v>
                </c:pt>
              </c:strCache>
            </c:strRef>
          </c:tx>
          <c:spPr>
            <a:solidFill>
              <a:srgbClr val="14B8A6">
                <a:alpha val="90000"/>
              </a:srgbClr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172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Facebook</c:v>
                </c:pt>
                <c:pt idx="1">
                  <c:v>Instagram</c:v>
                </c:pt>
                <c:pt idx="2">
                  <c:v>Messenger</c:v>
                </c:pt>
                <c:pt idx="3">
                  <c:v>Audience Network</c:v>
                </c:pt>
                <c:pt idx="4">
                  <c:v>Threads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0.53</c:v>
                </c:pt>
                <c:pt idx="1">
                  <c:v>0.46</c:v>
                </c:pt>
                <c:pt idx="2">
                  <c:v>0.21</c:v>
                </c:pt>
                <c:pt idx="3">
                  <c:v>0.2</c:v>
                </c:pt>
                <c:pt idx="4">
                  <c:v>0.2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0F172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 w="6350" cap="flat">
      <a:solidFill>
        <a:srgbClr val="E2E8F0"/>
      </a:solidFill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 (%)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172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Sheet1!$A$2:$A$12</c:f>
              <c:strCache>
                <c:ptCount val="11"/>
                <c:pt idx="0">
                  <c:v>month</c:v>
                </c:pt>
                <c:pt idx="1">
                  <c:v>day_of_month</c:v>
                </c:pt>
                <c:pt idx="2">
                  <c:v>roas_lag7</c:v>
                </c:pt>
                <c:pt idx="3">
                  <c:v>spend_change</c:v>
                </c:pt>
                <c:pt idx="4">
                  <c:v>spend_ma7</c:v>
                </c:pt>
                <c:pt idx="5">
                  <c:v>day_of_week</c:v>
                </c:pt>
                <c:pt idx="6">
                  <c:v>roas_std7</c:v>
                </c:pt>
                <c:pt idx="7">
                  <c:v>roas_lag1</c:v>
                </c:pt>
                <c:pt idx="8">
                  <c:v>week_of_year</c:v>
                </c:pt>
                <c:pt idx="9">
                  <c:v>roas_ma14</c:v>
                </c:pt>
                <c:pt idx="10">
                  <c:v>roas_ma7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0.0</c:v>
                </c:pt>
                <c:pt idx="1">
                  <c:v>1.02</c:v>
                </c:pt>
                <c:pt idx="2">
                  <c:v>1.81</c:v>
                </c:pt>
                <c:pt idx="3">
                  <c:v>2.55</c:v>
                </c:pt>
                <c:pt idx="4">
                  <c:v>2.62</c:v>
                </c:pt>
                <c:pt idx="5">
                  <c:v>4.51</c:v>
                </c:pt>
                <c:pt idx="6">
                  <c:v>7.46</c:v>
                </c:pt>
                <c:pt idx="7">
                  <c:v>7.62</c:v>
                </c:pt>
                <c:pt idx="8">
                  <c:v>14.49</c:v>
                </c:pt>
                <c:pt idx="9">
                  <c:v>15.14</c:v>
                </c:pt>
                <c:pt idx="10">
                  <c:v>42.79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0F172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6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 w="6350" cap="flat">
      <a:solidFill>
        <a:srgbClr val="E2E8F0"/>
      </a:solidFill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72A"/>
                </a:solidFill>
                <a:latin typeface="Georgia"/>
              </a:defRPr>
            </a:pPr>
            <a:r>
              <a:rPr sz="1300" b="0" i="0" u="none" strike="noStrike">
                <a:solidFill>
                  <a:srgbClr val="0F172A"/>
                </a:solidFill>
                <a:latin typeface="Georgia"/>
              </a:rPr>
              <a:t>Hour-of-day distribution — averaged across 5 brands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Organic orders (% of day)</c:v>
                </c:pt>
              </c:strCache>
            </c:strRef>
          </c:tx>
          <c:spPr>
            <a:solidFill>
              <a:srgbClr val="14B8A6"/>
            </a:solidFill>
            <a:ln w="38100" cap="flat">
              <a:solidFill>
                <a:srgbClr val="14B8A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4B8A6"/>
              </a:solidFill>
              <a:ln w="9525" cap="flat">
                <a:solidFill>
                  <a:srgbClr val="14B8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00</c:v>
                  </c:pt>
                  <c:pt idx="1">
                    <c:v>02</c:v>
                  </c:pt>
                  <c:pt idx="2">
                    <c:v>04</c:v>
                  </c:pt>
                  <c:pt idx="3">
                    <c:v>06</c:v>
                  </c:pt>
                  <c:pt idx="4">
                    <c:v>08</c:v>
                  </c:pt>
                  <c:pt idx="5">
                    <c:v>10</c:v>
                  </c:pt>
                  <c:pt idx="6">
                    <c:v>12</c:v>
                  </c:pt>
                  <c:pt idx="7">
                    <c:v>14</c:v>
                  </c:pt>
                  <c:pt idx="8">
                    <c:v>16</c:v>
                  </c:pt>
                  <c:pt idx="9">
                    <c:v>18</c:v>
                  </c:pt>
                  <c:pt idx="10">
                    <c:v>20</c:v>
                  </c:pt>
                  <c:pt idx="11">
                    <c:v>22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3</c:v>
                </c:pt>
                <c:pt idx="5">
                  <c:v>5</c:v>
                </c:pt>
                <c:pt idx="6">
                  <c:v>7</c:v>
                </c:pt>
                <c:pt idx="7">
                  <c:v>8</c:v>
                </c:pt>
                <c:pt idx="8">
                  <c:v>7</c:v>
                </c:pt>
                <c:pt idx="9">
                  <c:v>9</c:v>
                </c:pt>
                <c:pt idx="10">
                  <c:v>14</c:v>
                </c:pt>
                <c:pt idx="11">
                  <c:v>18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Paid impressions (% of day)</c:v>
                </c:pt>
              </c:strCache>
            </c:strRef>
          </c:tx>
          <c:spPr>
            <a:solidFill>
              <a:srgbClr val="0F172A"/>
            </a:solidFill>
            <a:ln w="38100" cap="flat">
              <a:solidFill>
                <a:srgbClr val="0F172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172A"/>
              </a:solidFill>
              <a:ln w="9525" cap="flat">
                <a:solidFill>
                  <a:srgbClr val="0F172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00</c:v>
                  </c:pt>
                  <c:pt idx="1">
                    <c:v>02</c:v>
                  </c:pt>
                  <c:pt idx="2">
                    <c:v>04</c:v>
                  </c:pt>
                  <c:pt idx="3">
                    <c:v>06</c:v>
                  </c:pt>
                  <c:pt idx="4">
                    <c:v>08</c:v>
                  </c:pt>
                  <c:pt idx="5">
                    <c:v>10</c:v>
                  </c:pt>
                  <c:pt idx="6">
                    <c:v>12</c:v>
                  </c:pt>
                  <c:pt idx="7">
                    <c:v>14</c:v>
                  </c:pt>
                  <c:pt idx="8">
                    <c:v>16</c:v>
                  </c:pt>
                  <c:pt idx="9">
                    <c:v>18</c:v>
                  </c:pt>
                  <c:pt idx="10">
                    <c:v>20</c:v>
                  </c:pt>
                  <c:pt idx="11">
                    <c:v>22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2</c:v>
                </c:pt>
                <c:pt idx="5">
                  <c:v>6</c:v>
                </c:pt>
                <c:pt idx="6">
                  <c:v>10</c:v>
                </c:pt>
                <c:pt idx="7">
                  <c:v>16</c:v>
                </c:pt>
                <c:pt idx="8">
                  <c:v>12</c:v>
                </c:pt>
                <c:pt idx="9">
                  <c:v>8</c:v>
                </c:pt>
                <c:pt idx="10">
                  <c:v>5</c:v>
                </c:pt>
                <c:pt idx="11">
                  <c:v>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4748B"/>
                    </a:solidFill>
                    <a:latin typeface="Arial"/>
                  </a:rPr>
                  <a:t>Hour (Europe/Istanbul)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4748B"/>
                    </a:solidFill>
                    <a:latin typeface="Arial"/>
                  </a:rPr>
                  <a:t>% of day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 w="6350" cap="flat">
      <a:solidFill>
        <a:srgbClr val="E2E8F0"/>
      </a:solidFill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28016" cy="12801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502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 433  ·  APPLIED MACHINE LEARNING  ·  SPRING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Multi-Channel Ad Spend Allocation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 Uncertainty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3794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Thompson Sampling and time-series ML for real-time performance-marketing budget optimization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5029200"/>
            <a:ext cx="146304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21208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Abdullah Çopur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Relations  ·  Final Project Presentation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11,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28016" cy="12801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77240" y="4114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Economic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0" y="41148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 433  ·  Applied Machine Learning  ·  Spring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863840" y="6492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Istanbul 29 Mayıs University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marketing is a recurring capital-allocation problem under uncertainty: each day, deploy a fixed ad budget across placements × creatives × audiences × hours.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544068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22585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56032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Information asymmetry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310896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pixel attribution overcredits parallel campaigns. Four parallel campaigns for one brand each showed ROAS 80+ on double-counted revenue.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2057400"/>
            <a:ext cx="544068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0" y="22585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256032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Creative fatigue as depreciating capital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00800" y="310896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product of a creative declines with cumulative impressions. Without a fatigue forecast, depreciated capital is held longer than optimal.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544068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77240" y="43616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466344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Channel substitution under unknown returns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77240" y="521208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Network absorbed ≈ 1.8 % of total platform spend at 0 attributed revenue. The naïve operator never tests the withdrawal counterfactual.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4160520"/>
            <a:ext cx="544068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00800" y="43616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466344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latency vs. operator agency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00800" y="521208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automation raises the cost of false positives. A binding constraint: no Meta API mutation without per-action operator approval.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cleanly onto principal-agent, multi-armed bandit, and depreciation-of-intangible-capital literatures.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28016" cy="12801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114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 &amp; Data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0" y="41148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 433  ·  Applied Machine Learning  ·  Spring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863840" y="6492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Istanbul 29 Mayıs University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051560"/>
            <a:ext cx="5486400" cy="2286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188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1554480"/>
            <a:ext cx="5074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a real-time ML system — Thompson Sampling allocation, time-series ROAS forecasting, creative-fatigue prediction, and robust anomaly detection — outperform the manual policy of a five-brand e-commerce operator while remaining compatible with strict per-action operator approval?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611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ML SUB-PROBLEMS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93192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 forecast (regression)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budget allocation (Beta-Bernoulli bandit)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(MAD-modified z-score, 8 metrics)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Creative-fatigue forecast (survival-style regression)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co-occurrence clustering (unsupervised)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0" y="10515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LAYER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0" y="13716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Marketing API v18+   ·   Hourly sync   ·   10 ad accounts   ·   5 brands   ·   32 days</a:t>
            </a:r>
            <a:endParaRPr lang="en-US" sz="10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783080"/>
          <a:ext cx="52120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914400"/>
                <a:gridCol w="23774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Granularity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ad_campaigns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Campaign metadata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ad_insights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Campaign × adset × ad × 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ad_breakdowns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Campaign × date × placement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ad_creative_meta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Thumbnail · body · CTA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tens of thousands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Order-derived revenue (30d)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ml_budget_suggestions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Bandit audit log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6400800" y="43891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y for forecast: ROAS = order-derived revenue ÷ spend (not Meta pixel).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00800" y="4892040"/>
            <a:ext cx="12344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0" y="502920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1,794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6446520" y="56692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ad-set insights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726680" y="4892040"/>
            <a:ext cx="12344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26680" y="502920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436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7772400" y="56692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campaigns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9052560" y="4892040"/>
            <a:ext cx="12344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052560" y="502920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9098280" y="56692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10378440" y="4892040"/>
            <a:ext cx="12344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378440" y="502920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</a:t>
            </a:r>
            <a:endParaRPr lang="en-US" sz="2400" dirty="0"/>
          </a:p>
        </p:txBody>
      </p:sp>
      <p:sp>
        <p:nvSpPr>
          <p:cNvPr id="27" name="Text 24"/>
          <p:cNvSpPr/>
          <p:nvPr/>
        </p:nvSpPr>
        <p:spPr>
          <a:xfrm>
            <a:off x="10424160" y="56692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predictors in X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28016" cy="12801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114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 — ROAS Distribution is Log-Normal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0" y="41148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 433  ·  Applied Machine Learning  ·  Spring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863840" y="6492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Istanbul 29 Mayıs University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097280"/>
          <a:ext cx="694944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77240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STATISTICS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1417320"/>
          <a:ext cx="3840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2.63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2.95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226.78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i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 (log-normal)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7772400" y="3383280"/>
            <a:ext cx="3840480" cy="2651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955280" y="3520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7955280" y="38404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z-score assumes ROAS is normal. Under right-skewed log-normal data, the empirical σ is inflated by the right tail — masking real downward anomalies, precisely where the operator most needs the alert.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7955280" y="52578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Use Iglewicz–Hoaglin modified z-score:  σ replaced by 1.4826 × MAD; threshold raised to |z| ≥ 3.5.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28016" cy="12801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114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 — The ML Pipeline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0" y="41148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 433  ·  Applied Machine Learning  ·  Spring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863840" y="6492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Istanbul 29 Mayıs University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219456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1783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Layer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2402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API v18+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16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sync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834640" y="1371600"/>
            <a:ext cx="219456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017520" y="1783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Engineering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17520" y="22402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Lags · MAs · σ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Turkish calendar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ratios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166360" y="1371600"/>
            <a:ext cx="219456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4924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49240" y="1783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Forecast Ensemble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49240" y="22402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SARIMA(1,1,1)(1,1,0,7)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· OLS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∝ 1/MAPE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498080" y="1371600"/>
            <a:ext cx="219456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680960" y="1783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Layer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680960" y="22402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Beta-Thompson bandit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MAD-z anomaly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 projection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829800" y="1371600"/>
            <a:ext cx="2194560" cy="1737360"/>
          </a:xfrm>
          <a:prstGeom prst="rect">
            <a:avLst/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1268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012680" y="1783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Operator Gate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012680" y="22402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approval click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require_admin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log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2920" y="3520440"/>
            <a:ext cx="54864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36576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VALIDATION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" y="397764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[t₀, T−14], predict [T−14, T]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MAPE · MAE · CI-coverage; roll forward; repeat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random k-fold — financial data is non-stationary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hold-out used to set ensemble weights (∝ 1/MAPE)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72200" y="3520440"/>
            <a:ext cx="54864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36576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CARD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3977640"/>
          <a:ext cx="51206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SARIMA(1,1,1)(1,1,0,7)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 seasonality + I(1)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(depth 4, η 0.1)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Non-linear interactions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OLS fallback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Sparse-data backstop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Beta–Thompson bandit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 budget allocation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MAD-z (Iglewicz–Hoaglin)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 anomaly detection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28016" cy="12801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114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Set — 24 Predictors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0" y="41148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 433  ·  Applied Machine Learning  ·  Spring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863840" y="6492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Istanbul 29 Mayıs University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classes of features capture distinct economic mechanisms: autoregression of past performance, Turkish calendar shocks, and creative-quality leading indicators added in Phase 2.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365760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828800"/>
            <a:ext cx="365760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011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AUTOREGRESSIVE &amp; MOMENTUM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331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features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77240" y="292608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roas_lag1 · roas_lag7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roas_ma7 · roas_ma14 · roas_std7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spend_ma7 · spend_change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clicks_per_spend · cps_ma7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5349240"/>
            <a:ext cx="32004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54406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Yesterday's ROAS conditions today's via auction dynamics. Spend itself shifts auction position (CPM).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97680" y="1828800"/>
            <a:ext cx="365760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97680" y="1828800"/>
            <a:ext cx="365760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2011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TURKISH CALENDAR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26280" y="2331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features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526280" y="292608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day_of_week · is_weekend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day_of_month · month · week_of_year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is_holiday · is_bayram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is_ramadan_shopping · is_black_friday_week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is_ecommerce_event · days_to_nearest_holiday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26280" y="5349240"/>
            <a:ext cx="32004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54406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Salary-cycle effect (Turkish state salaries paid on the 15th). Bayram and Ramazan shift purchase timing dramatically.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046720" y="1828800"/>
            <a:ext cx="365760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1828800"/>
            <a:ext cx="36576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75320" y="2011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QUALITY  (PHASE 2)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75320" y="2331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features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275320" y="292608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hook_rate_ma7  (video_p25 ÷ impressions)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hold_rate_ma7  (video_p75 ÷ plays)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video_completion_ma7  (p100 ÷ plays)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outbound_ctr_lag1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frequency_lag1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275320" y="5349240"/>
            <a:ext cx="32004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5320" y="54406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indicators of creative decay and audience saturation — direct fatigue signal.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61996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time-series walk-forward (train [t₀, T−14] → predict [T−14, T] → roll).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28016" cy="12801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77240" y="4114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I — ROAS Forecast · A Deliberate Negative Result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0" y="41148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 433  ·  Applied Machine Learning  ·  Spring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863840" y="6492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Istanbul 29 Mayıs University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27432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48640" y="126187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188.94 %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40080" y="2057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MAPE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3591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· pooled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10712" y="1097280"/>
            <a:ext cx="27432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410712" y="126187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−1570.85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3502152" y="2057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R² (validation)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02152" y="23591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· T = 32 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72784" y="1097280"/>
            <a:ext cx="27432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272784" y="126187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 = 32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364224" y="2057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of history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64224" y="23591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salary cycle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134856" y="1097280"/>
            <a:ext cx="27432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134856" y="126187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per-campaign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9226296" y="2057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converge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226296" y="23591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resolution</a:t>
            </a:r>
            <a:endParaRPr lang="en-US" sz="95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548640" y="2834640"/>
          <a:ext cx="73152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Shape 21"/>
          <p:cNvSpPr/>
          <p:nvPr/>
        </p:nvSpPr>
        <p:spPr>
          <a:xfrm>
            <a:off x="8001000" y="2834640"/>
            <a:ext cx="365760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8183880" y="2971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FORECAST SAYS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183880" y="3291840"/>
            <a:ext cx="3291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XGBoost — pooling five structurally different brands into one model — fails on walk-forward validation.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deliberate negative result: small history (T = 32), concept drift, and pooling loss across brands.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resolution: per-campaign SARIMA + XGBoost, which converge with reasonable CI coverage.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negative result is the lesson — more informative for validation design than a marginal positive would have been.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28016" cy="12801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77240" y="4114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II — Placement Bandit  ·  The Headline Number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0" y="41148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 433  ·  Applied Machine Learning  ·  Spring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863840" y="6492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Istanbul 29 Mayıs University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5943600" cy="2926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SINGLE-PLACEMENT WASTE · AUDIENCE NETWORK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64592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1.8 %</a:t>
            </a:r>
            <a:endParaRPr lang="en-US" sz="8000" dirty="0"/>
          </a:p>
        </p:txBody>
      </p:sp>
      <p:sp>
        <p:nvSpPr>
          <p:cNvPr id="10" name="Text 8"/>
          <p:cNvSpPr/>
          <p:nvPr/>
        </p:nvSpPr>
        <p:spPr>
          <a:xfrm>
            <a:off x="777240" y="32004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monthly platform spend — recoverable by pausing one zero-revenue placement (Audience Network).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1947672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48640" y="4251960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436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40080" y="4937760"/>
            <a:ext cx="1764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 evaluated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87752" y="4160520"/>
            <a:ext cx="1947672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587752" y="4251960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2679192" y="4937760"/>
            <a:ext cx="1764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 emitted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26864" y="4160520"/>
            <a:ext cx="1947672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626864" y="4251960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718304" y="4937760"/>
            <a:ext cx="1764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"pause" recommendations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75120" y="10972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BETA-THOMPSON POSTERIOR · P(success) per placement</a:t>
            </a:r>
            <a:endParaRPr lang="en-US" sz="10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6675120" y="1417320"/>
          <a:ext cx="49377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6675120" y="4251960"/>
            <a:ext cx="4937760" cy="205740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6858000" y="43708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 ·  AUDIENCE NETWORK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858000" y="4681728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1.8 % of spend · 0 revenue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attributed revenue across 45 pulls of 15 arms. Beta(15, 60) → P(success) = 0.20 (prior floor).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Concentrated in a single top-spending CPAS campaign arm.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28016" cy="12801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77240" y="4114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Explainability — XGBoost Feature Importance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0" y="41148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 433  ·  Applied Machine Learning  ·  Spring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863840" y="6492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Istanbul 29 Mayıs University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Gain-based feature importance from the aggregate XGBoost model, normalized across 24 predictors.</a:t>
            </a:r>
            <a:endParaRPr lang="en-US" sz="12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554480"/>
          <a:ext cx="749808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8229600" y="1554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INTERPRETATION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29600" y="1920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Autoregression dominates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0" y="219456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roas_ma7 alone explains 42.79 % of total gain; the smoothed-lag family (ma7/ma14/lag1/lag7/std7) sums to 73.5 %.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229600" y="29992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beats raw recency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229600" y="3273552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week_of_year ranks third (14.49 %), ahead of raw roas_lag1 (7.62 %) — salary cycles, Ramazan and bayram are quantitatively meaningful.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229600" y="40782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Grouped-attribution caveat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229600" y="4352544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smoothed lags share signal — read 42.79 % as 'smoothness wins', not 'ma7 alone'.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229600" y="51572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Phase-2 video features absent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229600" y="5431536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result, not bug. Creative-quality variation matters per-campaign, not in the aggregate pool. Analogous to inflation_expectations at country vs. global level.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28016" cy="12801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77240" y="4114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Insight — Bimodal Organic Order Pattern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0" y="41148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 433  ·  Applied Machine Learning  ·  Spring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863840" y="6492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Istanbul 29 Mayıs University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097280"/>
          <a:ext cx="731520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8046720" y="1097280"/>
            <a:ext cx="361188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229600" y="1234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OBSERVATION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29600" y="16002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Bimodal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8229600" y="25146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order pattern — a lunch peak and an evening peak across both product lines.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229600" y="3383280"/>
            <a:ext cx="32918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8229600" y="347472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 peak  10:00–14:00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peak  18:00–22:00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line A skews to lunch; Product line B skews to evening.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0" y="5212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Dayparting bid +30–50 % in BOTH lunch (10–14h) and evening (18–22h) windows. Est. ROAS uplift 5–8 % at constant spend.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28016" cy="12801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77240" y="4114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 Implications — Three Actions for the CFO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0" y="41148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 433  ·  Applied Machine Learning  ·  Spring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863840" y="6492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Istanbul 29 Mayıs University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1106424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48640" y="1097280"/>
            <a:ext cx="109728" cy="1508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22960" y="1234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17320" y="12344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Audience Network — scheduled withdrawal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17320" y="16459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 ≈ 1.8 % of platform spend  ·  0 attributed revenue  ·  Beta(15, 60) → P(success) = 0.20 (prior floor)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417320" y="1984248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 Pause Audience Network across all 15 flagged arms. Recovery is one click in the same UI if performance proven.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366760" y="12344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1.8 % / mo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366760" y="1938528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monthly platform spend (single placement)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2743200"/>
            <a:ext cx="1106424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48640" y="2743200"/>
            <a:ext cx="109728" cy="15087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22960" y="2880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17320" y="28803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Dayparting — shift bid intensity to organic peak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17320" y="32918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 Bimodal organic orders — lunch peak 10–14h and evening peak 18–22h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417320" y="3630168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 Apply hourly bid +30–50 % in BOTH lunch and evening windows (Meta Ads Manager → ad-set schedule).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66760" y="288036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+5 to 8 %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8366760" y="3584448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 uplift at constant spend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389120"/>
            <a:ext cx="1106424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48640" y="4389120"/>
            <a:ext cx="109728" cy="1508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22960" y="4526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417320" y="45262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Creative rotation — pre-emptive replacement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17320" y="49377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 10 ad sets on fatigue watch  ·  highest-confidence forecast: 40.9 days to threshold (r² = 0.97)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417320" y="5276088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 Brief creative team to prepare replacement assets for top-10 watch list ahead of fatigue threshold.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366760" y="45262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Avoid 20–30 %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8366760" y="5230368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ROAS collapse at frequency &gt; 4.0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actions are operator-gated: ML displays the recommendation with full reasoning; the CFO clicks approve before any Meta API mutation.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28016" cy="12801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68680" y="502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CLOSING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0" y="50292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size &amp; non-stationarity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days &lt; 1 full salary cycle + seasonality. CI widens beyond 7 days; we report 14-day but recommend ≤ 7-day operator weight.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Attribution noise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pixel vs. order-derived revenue diverge 20–40 % daily. Placement-level revenue still depends on pixel — no alternative at sub-campaign granularity.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374904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Right-censoring in fatigue dataset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402336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currently running campaigns are observed; operator-paused are right-censored. A Cox proportional-hazards model would replace linear extrapolation.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484632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Black-swan events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512064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algorithm changes, lira devaluation, political events — none in the feature set. The model fails silently on regime change.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09360" y="1188720"/>
            <a:ext cx="530352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92240" y="1371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REMARK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178308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textbook tools of applied ML — autoregressive time-series, gradient-boosted trees, Thompson sampling, robust outlier detection — translate cleanly into a production ad-allocation system.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2240" y="278892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single insight was not algorithmic but informational: a single defensible counterfactual — a placement at the prior floor with zero reward — surfaced to a decision-maker who already had the authority to act.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40233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economic value (≈ 1.8 % of monthly spend, a single placement) came from the simplest decision: pause Audience Network.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9360" y="46634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&amp; REPRODUCIBILITY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09360" y="498348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·  PostgreSQL 16  ·  SQLAlchemy  ·  APScheduler  ·  XGBoost 1.7  ·  statsmodels SARIMAX  ·  React + TypeScript + Recharts  ·  Alembic 0001 → 0016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5852160"/>
            <a:ext cx="10972800" cy="274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40080" y="5943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  Questions?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58000" y="6035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Abdullah Çopur  ·  Istanbul 29 Mayıs University  ·  May 11,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Multi-Channel Ad Spend Allocation Under Uncertainty</dc:title>
  <dc:subject>PptxGenJS Presentation</dc:subject>
  <dc:creator>Abdullah Çopur — Istanbul 29 Mayıs University</dc:creator>
  <cp:lastModifiedBy>Abdullah Çopur — Istanbul 29 Mayıs University</cp:lastModifiedBy>
  <cp:revision>1</cp:revision>
  <dcterms:created xsi:type="dcterms:W3CDTF">2026-05-11T11:47:49Z</dcterms:created>
  <dcterms:modified xsi:type="dcterms:W3CDTF">2026-05-11T11:47:49Z</dcterms:modified>
</cp:coreProperties>
</file>